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E0018F-26B5-4B12-8815-9A45249B00E7}" v="1" dt="2026-08-05T17:51:42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606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29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97705" y="353984"/>
            <a:ext cx="3196503" cy="493685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algn="ctr">
              <a:lnSpc>
                <a:spcPts val="1053"/>
              </a:lnSpc>
              <a:spcBef>
                <a:spcPts val="68"/>
              </a:spcBef>
            </a:pPr>
            <a:r>
              <a:rPr sz="886" b="1" dirty="0">
                <a:solidFill>
                  <a:srgbClr val="1F4E79"/>
                </a:solidFill>
                <a:latin typeface="Cambria"/>
                <a:cs typeface="Cambria"/>
              </a:rPr>
              <a:t>SIMATS</a:t>
            </a:r>
            <a:r>
              <a:rPr sz="886" b="1" spc="-27" dirty="0">
                <a:solidFill>
                  <a:srgbClr val="1F4E79"/>
                </a:solidFill>
                <a:latin typeface="Cambria"/>
                <a:cs typeface="Cambria"/>
              </a:rPr>
              <a:t> </a:t>
            </a:r>
            <a:r>
              <a:rPr sz="886" b="1" dirty="0">
                <a:solidFill>
                  <a:srgbClr val="1F4E79"/>
                </a:solidFill>
                <a:latin typeface="Cambria"/>
                <a:cs typeface="Cambria"/>
              </a:rPr>
              <a:t>ENGINEERING</a:t>
            </a:r>
            <a:r>
              <a:rPr sz="886" b="1" spc="-17" dirty="0">
                <a:solidFill>
                  <a:srgbClr val="1F4E79"/>
                </a:solidFill>
                <a:latin typeface="Cambria"/>
                <a:cs typeface="Cambria"/>
              </a:rPr>
              <a:t> </a:t>
            </a:r>
            <a:r>
              <a:rPr sz="886" b="1" dirty="0">
                <a:solidFill>
                  <a:srgbClr val="1F4E79"/>
                </a:solidFill>
                <a:latin typeface="Cambria"/>
                <a:cs typeface="Cambria"/>
              </a:rPr>
              <a:t>(SAVEETHA</a:t>
            </a:r>
            <a:r>
              <a:rPr sz="886" b="1" spc="-14" dirty="0">
                <a:solidFill>
                  <a:srgbClr val="1F4E79"/>
                </a:solidFill>
                <a:latin typeface="Cambria"/>
                <a:cs typeface="Cambria"/>
              </a:rPr>
              <a:t> </a:t>
            </a:r>
            <a:r>
              <a:rPr sz="886" b="1" dirty="0">
                <a:solidFill>
                  <a:srgbClr val="1F4E79"/>
                </a:solidFill>
                <a:latin typeface="Cambria"/>
                <a:cs typeface="Cambria"/>
              </a:rPr>
              <a:t>SCHOOL</a:t>
            </a:r>
            <a:r>
              <a:rPr sz="886" b="1" spc="-14" dirty="0">
                <a:solidFill>
                  <a:srgbClr val="1F4E79"/>
                </a:solidFill>
                <a:latin typeface="Cambria"/>
                <a:cs typeface="Cambria"/>
              </a:rPr>
              <a:t> </a:t>
            </a:r>
            <a:r>
              <a:rPr sz="886" b="1" dirty="0">
                <a:solidFill>
                  <a:srgbClr val="1F4E79"/>
                </a:solidFill>
                <a:latin typeface="Cambria"/>
                <a:cs typeface="Cambria"/>
              </a:rPr>
              <a:t>OF</a:t>
            </a:r>
            <a:r>
              <a:rPr sz="886" b="1" spc="-14" dirty="0">
                <a:solidFill>
                  <a:srgbClr val="1F4E79"/>
                </a:solidFill>
                <a:latin typeface="Cambria"/>
                <a:cs typeface="Cambria"/>
              </a:rPr>
              <a:t> </a:t>
            </a:r>
            <a:r>
              <a:rPr sz="886" b="1" spc="-7" dirty="0">
                <a:solidFill>
                  <a:srgbClr val="1F4E79"/>
                </a:solidFill>
                <a:latin typeface="Cambria"/>
                <a:cs typeface="Cambria"/>
              </a:rPr>
              <a:t>ENGINEERING)</a:t>
            </a:r>
            <a:endParaRPr sz="886">
              <a:latin typeface="Cambria"/>
              <a:cs typeface="Cambria"/>
            </a:endParaRPr>
          </a:p>
          <a:p>
            <a:pPr algn="ctr">
              <a:lnSpc>
                <a:spcPts val="890"/>
              </a:lnSpc>
            </a:pPr>
            <a:r>
              <a:rPr sz="750" b="1" spc="-7" dirty="0">
                <a:solidFill>
                  <a:srgbClr val="2D75B6"/>
                </a:solidFill>
                <a:latin typeface="Cambria"/>
                <a:cs typeface="Cambria"/>
              </a:rPr>
              <a:t>Department </a:t>
            </a:r>
            <a:r>
              <a:rPr sz="750" b="1" dirty="0">
                <a:solidFill>
                  <a:srgbClr val="2D75B6"/>
                </a:solidFill>
                <a:latin typeface="Cambria"/>
                <a:cs typeface="Cambria"/>
              </a:rPr>
              <a:t>of</a:t>
            </a:r>
            <a:r>
              <a:rPr sz="750" b="1" spc="-7" dirty="0">
                <a:solidFill>
                  <a:srgbClr val="2D75B6"/>
                </a:solidFill>
                <a:latin typeface="Cambria"/>
                <a:cs typeface="Cambria"/>
              </a:rPr>
              <a:t> Computer</a:t>
            </a:r>
            <a:r>
              <a:rPr sz="750" b="1" spc="-10" dirty="0">
                <a:solidFill>
                  <a:srgbClr val="2D75B6"/>
                </a:solidFill>
                <a:latin typeface="Cambria"/>
                <a:cs typeface="Cambria"/>
              </a:rPr>
              <a:t> </a:t>
            </a:r>
            <a:r>
              <a:rPr sz="750" b="1" dirty="0">
                <a:solidFill>
                  <a:srgbClr val="2D75B6"/>
                </a:solidFill>
                <a:latin typeface="Cambria"/>
                <a:cs typeface="Cambria"/>
              </a:rPr>
              <a:t>Science</a:t>
            </a:r>
            <a:r>
              <a:rPr sz="750" b="1" spc="-7" dirty="0">
                <a:solidFill>
                  <a:srgbClr val="2D75B6"/>
                </a:solidFill>
                <a:latin typeface="Cambria"/>
                <a:cs typeface="Cambria"/>
              </a:rPr>
              <a:t> </a:t>
            </a:r>
            <a:r>
              <a:rPr sz="750" b="1" dirty="0">
                <a:solidFill>
                  <a:srgbClr val="2D75B6"/>
                </a:solidFill>
                <a:latin typeface="Cambria"/>
                <a:cs typeface="Cambria"/>
              </a:rPr>
              <a:t>and</a:t>
            </a:r>
            <a:r>
              <a:rPr sz="750" b="1" spc="-10" dirty="0">
                <a:solidFill>
                  <a:srgbClr val="2D75B6"/>
                </a:solidFill>
                <a:latin typeface="Cambria"/>
                <a:cs typeface="Cambria"/>
              </a:rPr>
              <a:t> </a:t>
            </a:r>
            <a:r>
              <a:rPr sz="750" b="1" spc="-7" dirty="0">
                <a:solidFill>
                  <a:srgbClr val="2D75B6"/>
                </a:solidFill>
                <a:latin typeface="Cambria"/>
                <a:cs typeface="Cambria"/>
              </a:rPr>
              <a:t>Engineering</a:t>
            </a:r>
            <a:endParaRPr sz="750">
              <a:latin typeface="Cambria"/>
              <a:cs typeface="Cambria"/>
            </a:endParaRPr>
          </a:p>
          <a:p>
            <a:pPr algn="ctr">
              <a:spcBef>
                <a:spcPts val="801"/>
              </a:spcBef>
            </a:pPr>
            <a:r>
              <a:rPr sz="818" b="1" dirty="0">
                <a:solidFill>
                  <a:srgbClr val="C00000"/>
                </a:solidFill>
                <a:latin typeface="Cambria"/>
                <a:cs typeface="Cambria"/>
              </a:rPr>
              <a:t>ASSESSMENT</a:t>
            </a:r>
            <a:r>
              <a:rPr sz="818" b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818" b="1" dirty="0">
                <a:solidFill>
                  <a:srgbClr val="C00000"/>
                </a:solidFill>
                <a:latin typeface="Cambria"/>
                <a:cs typeface="Cambria"/>
              </a:rPr>
              <a:t>TOOL</a:t>
            </a:r>
            <a:r>
              <a:rPr sz="818" b="1" spc="-17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818" b="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818" b="1" spc="-17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818" b="1" dirty="0">
                <a:solidFill>
                  <a:srgbClr val="C00000"/>
                </a:solidFill>
                <a:latin typeface="Cambria"/>
                <a:cs typeface="Cambria"/>
              </a:rPr>
              <a:t>–</a:t>
            </a:r>
            <a:r>
              <a:rPr sz="818" b="1" spc="-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818" b="1" dirty="0">
                <a:solidFill>
                  <a:srgbClr val="C00000"/>
                </a:solidFill>
                <a:latin typeface="Cambria"/>
                <a:cs typeface="Cambria"/>
              </a:rPr>
              <a:t>Concept</a:t>
            </a:r>
            <a:r>
              <a:rPr sz="818" b="1" spc="-17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818" b="1" spc="-7" dirty="0">
                <a:solidFill>
                  <a:srgbClr val="C00000"/>
                </a:solidFill>
                <a:latin typeface="Cambria"/>
                <a:cs typeface="Cambria"/>
              </a:rPr>
              <a:t>Mapping</a:t>
            </a:r>
            <a:endParaRPr sz="818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00920" y="967913"/>
            <a:ext cx="4391025" cy="6494"/>
          </a:xfrm>
          <a:custGeom>
            <a:avLst/>
            <a:gdLst/>
            <a:ahLst/>
            <a:cxnLst/>
            <a:rect l="l" t="t" r="r" b="b"/>
            <a:pathLst>
              <a:path w="6440170" h="9525">
                <a:moveTo>
                  <a:pt x="6439661" y="0"/>
                </a:moveTo>
                <a:lnTo>
                  <a:pt x="0" y="0"/>
                </a:lnTo>
                <a:lnTo>
                  <a:pt x="0" y="9144"/>
                </a:lnTo>
                <a:lnTo>
                  <a:pt x="6439661" y="9144"/>
                </a:lnTo>
                <a:lnTo>
                  <a:pt x="6439661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 sz="1227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7896"/>
              </p:ext>
            </p:extLst>
          </p:nvPr>
        </p:nvGraphicFramePr>
        <p:xfrm>
          <a:off x="3913909" y="1132782"/>
          <a:ext cx="4364181" cy="1305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9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2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7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625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7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Course</a:t>
                      </a:r>
                      <a:r>
                        <a:rPr sz="700" b="1" spc="-45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Code: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814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700" spc="-10" dirty="0">
                          <a:latin typeface="Cambria"/>
                          <a:cs typeface="Cambria"/>
                        </a:rPr>
                        <a:t>CSA0309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814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7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Course</a:t>
                      </a:r>
                      <a:r>
                        <a:rPr sz="700" b="1" spc="-45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Title: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814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7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7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spc="-10" dirty="0">
                          <a:latin typeface="Cambria"/>
                          <a:cs typeface="Cambria"/>
                        </a:rPr>
                        <a:t>Structures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814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9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7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CO</a:t>
                      </a:r>
                      <a:r>
                        <a:rPr sz="700" b="1" spc="-2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Assessed: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79231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700" dirty="0">
                          <a:latin typeface="Cambria"/>
                          <a:cs typeface="Cambria"/>
                        </a:rPr>
                        <a:t>CO1</a:t>
                      </a:r>
                      <a:r>
                        <a:rPr sz="7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dirty="0">
                          <a:latin typeface="Cambria"/>
                          <a:cs typeface="Cambria"/>
                        </a:rPr>
                        <a:t>–</a:t>
                      </a:r>
                      <a:r>
                        <a:rPr sz="7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dirty="0">
                          <a:latin typeface="Cambria"/>
                          <a:cs typeface="Cambria"/>
                        </a:rPr>
                        <a:t>Imitation</a:t>
                      </a:r>
                      <a:r>
                        <a:rPr sz="7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dirty="0">
                          <a:latin typeface="Cambria"/>
                          <a:cs typeface="Cambria"/>
                        </a:rPr>
                        <a:t>(BL3,</a:t>
                      </a:r>
                      <a:r>
                        <a:rPr sz="7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spc="-20" dirty="0">
                          <a:latin typeface="Cambria"/>
                          <a:cs typeface="Cambria"/>
                        </a:rPr>
                        <a:t>BL4)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79231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7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Assessment: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79231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 marR="400685">
                        <a:lnSpc>
                          <a:spcPts val="1170"/>
                        </a:lnSpc>
                        <a:spcBef>
                          <a:spcPts val="390"/>
                        </a:spcBef>
                      </a:pPr>
                      <a:r>
                        <a:rPr sz="700" dirty="0">
                          <a:latin typeface="Cambria"/>
                          <a:cs typeface="Cambria"/>
                        </a:rPr>
                        <a:t>Assessment</a:t>
                      </a:r>
                      <a:r>
                        <a:rPr sz="7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dirty="0">
                          <a:latin typeface="Cambria"/>
                          <a:cs typeface="Cambria"/>
                        </a:rPr>
                        <a:t>Tool</a:t>
                      </a:r>
                      <a:r>
                        <a:rPr sz="7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dirty="0">
                          <a:latin typeface="Cambria"/>
                          <a:cs typeface="Cambria"/>
                        </a:rPr>
                        <a:t>2</a:t>
                      </a:r>
                      <a:r>
                        <a:rPr sz="7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dirty="0">
                          <a:latin typeface="Cambria"/>
                          <a:cs typeface="Cambria"/>
                        </a:rPr>
                        <a:t>–</a:t>
                      </a:r>
                      <a:r>
                        <a:rPr sz="7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spc="-10" dirty="0">
                          <a:latin typeface="Cambria"/>
                          <a:cs typeface="Cambria"/>
                        </a:rPr>
                        <a:t>Concept Mapping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33770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7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Weightage: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814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700" dirty="0">
                          <a:latin typeface="Cambria"/>
                          <a:cs typeface="Cambria"/>
                        </a:rPr>
                        <a:t>35%</a:t>
                      </a:r>
                      <a:r>
                        <a:rPr sz="7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700" spc="-25" dirty="0">
                          <a:latin typeface="Cambria"/>
                          <a:cs typeface="Cambria"/>
                        </a:rPr>
                        <a:t>CIA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814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7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Total</a:t>
                      </a:r>
                      <a:r>
                        <a:rPr sz="700" b="1" spc="-45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Marks: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814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700" spc="-25" dirty="0">
                          <a:latin typeface="Cambria"/>
                          <a:cs typeface="Cambria"/>
                        </a:rPr>
                        <a:t>100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814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56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7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CO1</a:t>
                      </a:r>
                      <a:r>
                        <a:rPr sz="700" b="1" spc="-15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Statement: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78365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76200" marR="68580">
                        <a:lnSpc>
                          <a:spcPts val="1180"/>
                        </a:lnSpc>
                        <a:spcBef>
                          <a:spcPts val="375"/>
                        </a:spcBef>
                      </a:pPr>
                      <a:r>
                        <a:rPr sz="700" i="1" dirty="0">
                          <a:latin typeface="Cambria"/>
                          <a:cs typeface="Cambria"/>
                        </a:rPr>
                        <a:t>Apply</a:t>
                      </a:r>
                      <a:r>
                        <a:rPr sz="700" i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spc="-10" dirty="0">
                          <a:latin typeface="Cambria"/>
                          <a:cs typeface="Cambria"/>
                        </a:rPr>
                        <a:t>suitable</a:t>
                      </a:r>
                      <a:r>
                        <a:rPr sz="700" i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700" i="1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spc="-10" dirty="0">
                          <a:latin typeface="Cambria"/>
                          <a:cs typeface="Cambria"/>
                        </a:rPr>
                        <a:t>structures </a:t>
                      </a:r>
                      <a:r>
                        <a:rPr sz="700" i="1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700" i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dirty="0">
                          <a:latin typeface="Cambria"/>
                          <a:cs typeface="Cambria"/>
                        </a:rPr>
                        <a:t>ADTs</a:t>
                      </a:r>
                      <a:r>
                        <a:rPr sz="700" i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spc="-1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700" i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spc="-10" dirty="0">
                          <a:latin typeface="Cambria"/>
                          <a:cs typeface="Cambria"/>
                        </a:rPr>
                        <a:t>efficient</a:t>
                      </a:r>
                      <a:r>
                        <a:rPr sz="700" i="1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spc="-10" dirty="0">
                          <a:latin typeface="Cambria"/>
                          <a:cs typeface="Cambria"/>
                        </a:rPr>
                        <a:t>problem</a:t>
                      </a:r>
                      <a:r>
                        <a:rPr sz="700" i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spc="-10" dirty="0">
                          <a:latin typeface="Cambria"/>
                          <a:cs typeface="Cambria"/>
                        </a:rPr>
                        <a:t>solving</a:t>
                      </a:r>
                      <a:r>
                        <a:rPr sz="700" i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dirty="0">
                          <a:latin typeface="Cambria"/>
                          <a:cs typeface="Cambria"/>
                        </a:rPr>
                        <a:t>by</a:t>
                      </a:r>
                      <a:r>
                        <a:rPr sz="700" i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spc="-10" dirty="0">
                          <a:latin typeface="Cambria"/>
                          <a:cs typeface="Cambria"/>
                        </a:rPr>
                        <a:t>analyzing</a:t>
                      </a:r>
                      <a:r>
                        <a:rPr sz="700" i="1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dirty="0">
                          <a:latin typeface="Cambria"/>
                          <a:cs typeface="Cambria"/>
                        </a:rPr>
                        <a:t>time</a:t>
                      </a:r>
                      <a:r>
                        <a:rPr sz="700" i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700" i="1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700" i="1" spc="-10" dirty="0">
                          <a:latin typeface="Cambria"/>
                          <a:cs typeface="Cambria"/>
                        </a:rPr>
                        <a:t>space complexity.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3247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EBF3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7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Student</a:t>
                      </a:r>
                      <a:r>
                        <a:rPr sz="7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Name: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814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" dirty="0">
                          <a:latin typeface="Times New Roman"/>
                          <a:cs typeface="Times New Roman"/>
                        </a:rPr>
                        <a:t>JEEVA RAGHUL .M</a:t>
                      </a: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7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Reg.</a:t>
                      </a:r>
                      <a:r>
                        <a:rPr sz="700" b="1" spc="-2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No.: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814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">
                          <a:latin typeface="Times New Roman"/>
                          <a:cs typeface="Times New Roman"/>
                        </a:rPr>
                        <a:t>192524487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25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Section</a:t>
                      </a:r>
                      <a:r>
                        <a:rPr sz="7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7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/</a:t>
                      </a:r>
                      <a:r>
                        <a:rPr sz="700" b="1" spc="-2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Batch: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" dirty="0">
                          <a:latin typeface="Times New Roman"/>
                          <a:cs typeface="Times New Roman"/>
                        </a:rPr>
                        <a:t>B-Tech AIDS</a:t>
                      </a: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Date: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spc="-10" dirty="0">
                          <a:latin typeface="Cambria"/>
                          <a:cs typeface="Cambria"/>
                        </a:rPr>
                        <a:t>08/07/2026</a:t>
                      </a:r>
                      <a:endParaRPr sz="700" dirty="0">
                        <a:latin typeface="Cambria"/>
                        <a:cs typeface="Cambria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915987" y="2463858"/>
            <a:ext cx="4365048" cy="691017"/>
          </a:xfrm>
          <a:prstGeom prst="rect">
            <a:avLst/>
          </a:prstGeom>
          <a:solidFill>
            <a:srgbClr val="FFF8E6"/>
          </a:solidFill>
          <a:ln w="6095">
            <a:solidFill>
              <a:srgbClr val="1F4E79"/>
            </a:solidFill>
          </a:ln>
        </p:spPr>
        <p:txBody>
          <a:bodyPr vert="horz" wrap="square" lIns="0" tIns="40698" rIns="0" bIns="0" rtlCol="0">
            <a:spAutoFit/>
          </a:bodyPr>
          <a:lstStyle/>
          <a:p>
            <a:pPr marL="86589">
              <a:spcBef>
                <a:spcPts val="320"/>
              </a:spcBef>
            </a:pPr>
            <a:r>
              <a:rPr sz="750" b="1" dirty="0">
                <a:solidFill>
                  <a:srgbClr val="C00000"/>
                </a:solidFill>
                <a:latin typeface="Cambria"/>
                <a:cs typeface="Cambria"/>
              </a:rPr>
              <a:t>Code</a:t>
            </a:r>
            <a:r>
              <a:rPr sz="750" b="1" spc="-17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750" b="1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750" b="1" spc="-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750" b="1" spc="-7" dirty="0">
                <a:solidFill>
                  <a:srgbClr val="C00000"/>
                </a:solidFill>
                <a:latin typeface="Cambria"/>
                <a:cs typeface="Cambria"/>
              </a:rPr>
              <a:t>Conduct</a:t>
            </a:r>
            <a:endParaRPr sz="750">
              <a:latin typeface="Cambria"/>
              <a:cs typeface="Cambria"/>
            </a:endParaRPr>
          </a:p>
          <a:p>
            <a:pPr marL="86589" marR="128151">
              <a:lnSpc>
                <a:spcPct val="112300"/>
              </a:lnSpc>
              <a:spcBef>
                <a:spcPts val="327"/>
              </a:spcBef>
              <a:tabLst>
                <a:tab pos="3616373" algn="l"/>
              </a:tabLst>
            </a:pPr>
            <a:r>
              <a:rPr sz="682" i="1" dirty="0">
                <a:latin typeface="Cambria"/>
                <a:cs typeface="Cambria"/>
              </a:rPr>
              <a:t>I </a:t>
            </a:r>
            <a:r>
              <a:rPr sz="682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682" i="1" dirty="0">
                <a:latin typeface="Cambria"/>
                <a:cs typeface="Cambria"/>
              </a:rPr>
              <a:t>(Name</a:t>
            </a:r>
            <a:r>
              <a:rPr sz="682" i="1" spc="-20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/</a:t>
            </a:r>
            <a:r>
              <a:rPr sz="682" i="1" spc="-17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Reg</a:t>
            </a:r>
            <a:r>
              <a:rPr sz="682" i="1" spc="-17" dirty="0">
                <a:latin typeface="Cambria"/>
                <a:cs typeface="Cambria"/>
              </a:rPr>
              <a:t> No)</a:t>
            </a:r>
            <a:r>
              <a:rPr sz="682" i="1" dirty="0">
                <a:latin typeface="Cambria"/>
                <a:cs typeface="Cambria"/>
              </a:rPr>
              <a:t> certify</a:t>
            </a:r>
            <a:r>
              <a:rPr sz="682" i="1" spc="-14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that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this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spc="-7" dirty="0">
                <a:latin typeface="Cambria"/>
                <a:cs typeface="Cambria"/>
              </a:rPr>
              <a:t>submission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is</a:t>
            </a:r>
            <a:r>
              <a:rPr sz="682" i="1" spc="-17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my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original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work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and</a:t>
            </a:r>
            <a:r>
              <a:rPr sz="682" i="1" spc="-17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that</a:t>
            </a:r>
            <a:r>
              <a:rPr sz="682" i="1" spc="-17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I</a:t>
            </a:r>
            <a:r>
              <a:rPr sz="682" i="1" spc="-14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have</a:t>
            </a:r>
            <a:r>
              <a:rPr sz="682" i="1" spc="-14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adhered</a:t>
            </a:r>
            <a:r>
              <a:rPr sz="682" i="1" spc="-14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to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the</a:t>
            </a:r>
            <a:r>
              <a:rPr sz="682" i="1" spc="-17" dirty="0">
                <a:latin typeface="Cambria"/>
                <a:cs typeface="Cambria"/>
              </a:rPr>
              <a:t> </a:t>
            </a:r>
            <a:r>
              <a:rPr sz="682" i="1" spc="-7" dirty="0">
                <a:latin typeface="Cambria"/>
                <a:cs typeface="Cambria"/>
              </a:rPr>
              <a:t>guidelines</a:t>
            </a:r>
            <a:r>
              <a:rPr sz="682" i="1" spc="-14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specified</a:t>
            </a:r>
            <a:r>
              <a:rPr sz="682" i="1" spc="-14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for</a:t>
            </a:r>
            <a:r>
              <a:rPr sz="682" i="1" spc="-17" dirty="0">
                <a:latin typeface="Cambria"/>
                <a:cs typeface="Cambria"/>
              </a:rPr>
              <a:t> </a:t>
            </a:r>
            <a:r>
              <a:rPr sz="682" i="1" spc="-14" dirty="0">
                <a:latin typeface="Cambria"/>
                <a:cs typeface="Cambria"/>
              </a:rPr>
              <a:t>this </a:t>
            </a:r>
            <a:r>
              <a:rPr sz="682" i="1" spc="-7" dirty="0">
                <a:latin typeface="Cambria"/>
                <a:cs typeface="Cambria"/>
              </a:rPr>
              <a:t>assessment. </a:t>
            </a:r>
            <a:r>
              <a:rPr sz="682" i="1" dirty="0">
                <a:latin typeface="Cambria"/>
                <a:cs typeface="Cambria"/>
              </a:rPr>
              <a:t>I</a:t>
            </a:r>
            <a:r>
              <a:rPr sz="682" i="1" spc="-14" dirty="0">
                <a:latin typeface="Cambria"/>
                <a:cs typeface="Cambria"/>
              </a:rPr>
              <a:t> </a:t>
            </a:r>
            <a:r>
              <a:rPr sz="682" i="1" spc="-7" dirty="0">
                <a:latin typeface="Cambria"/>
                <a:cs typeface="Cambria"/>
              </a:rPr>
              <a:t>understand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that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any</a:t>
            </a:r>
            <a:r>
              <a:rPr sz="682" i="1" spc="-7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violation</a:t>
            </a:r>
            <a:r>
              <a:rPr sz="682" i="1" spc="-7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of</a:t>
            </a:r>
            <a:r>
              <a:rPr sz="682" i="1" spc="-7" dirty="0">
                <a:latin typeface="Cambria"/>
                <a:cs typeface="Cambria"/>
              </a:rPr>
              <a:t> academic</a:t>
            </a:r>
            <a:r>
              <a:rPr sz="682" i="1" spc="-14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integrity</a:t>
            </a:r>
            <a:r>
              <a:rPr sz="682" i="1" spc="-7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rules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will</a:t>
            </a:r>
            <a:r>
              <a:rPr sz="682" i="1" spc="-7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result</a:t>
            </a:r>
            <a:r>
              <a:rPr sz="682" i="1" spc="-7" dirty="0">
                <a:latin typeface="Cambria"/>
                <a:cs typeface="Cambria"/>
              </a:rPr>
              <a:t> </a:t>
            </a:r>
            <a:r>
              <a:rPr sz="682" i="1" dirty="0">
                <a:latin typeface="Cambria"/>
                <a:cs typeface="Cambria"/>
              </a:rPr>
              <a:t>in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spc="-7" dirty="0">
                <a:latin typeface="Cambria"/>
                <a:cs typeface="Cambria"/>
              </a:rPr>
              <a:t>disciplinary</a:t>
            </a:r>
            <a:r>
              <a:rPr sz="682" i="1" spc="-10" dirty="0">
                <a:latin typeface="Cambria"/>
                <a:cs typeface="Cambria"/>
              </a:rPr>
              <a:t> </a:t>
            </a:r>
            <a:r>
              <a:rPr sz="682" i="1" spc="-7" dirty="0">
                <a:latin typeface="Cambria"/>
                <a:cs typeface="Cambria"/>
              </a:rPr>
              <a:t>action.</a:t>
            </a:r>
            <a:endParaRPr sz="682">
              <a:latin typeface="Cambria"/>
              <a:cs typeface="Cambria"/>
            </a:endParaRPr>
          </a:p>
          <a:p>
            <a:pPr marL="86589">
              <a:spcBef>
                <a:spcPts val="307"/>
              </a:spcBef>
              <a:tabLst>
                <a:tab pos="1840008" algn="l"/>
              </a:tabLst>
            </a:pPr>
            <a:r>
              <a:rPr sz="682" dirty="0">
                <a:latin typeface="Cambria"/>
                <a:cs typeface="Cambria"/>
              </a:rPr>
              <a:t>Signature of</a:t>
            </a:r>
            <a:r>
              <a:rPr sz="682" spc="-3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the Student: </a:t>
            </a:r>
            <a:r>
              <a:rPr sz="682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682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5987" y="3353320"/>
            <a:ext cx="4365048" cy="869441"/>
          </a:xfrm>
          <a:prstGeom prst="rect">
            <a:avLst/>
          </a:prstGeom>
          <a:solidFill>
            <a:srgbClr val="FFF3CD"/>
          </a:solidFill>
          <a:ln w="6095">
            <a:solidFill>
              <a:srgbClr val="1F4E79"/>
            </a:solidFill>
          </a:ln>
        </p:spPr>
        <p:txBody>
          <a:bodyPr vert="horz" wrap="square" lIns="0" tIns="32039" rIns="0" bIns="0" rtlCol="0">
            <a:spAutoFit/>
          </a:bodyPr>
          <a:lstStyle/>
          <a:p>
            <a:pPr marL="86589">
              <a:lnSpc>
                <a:spcPts val="893"/>
              </a:lnSpc>
              <a:spcBef>
                <a:spcPts val="252"/>
              </a:spcBef>
            </a:pPr>
            <a:r>
              <a:rPr sz="750" b="1" spc="-7" dirty="0">
                <a:solidFill>
                  <a:srgbClr val="C00000"/>
                </a:solidFill>
                <a:latin typeface="Cambria"/>
                <a:cs typeface="Cambria"/>
              </a:rPr>
              <a:t>Instructions</a:t>
            </a:r>
            <a:endParaRPr sz="750">
              <a:latin typeface="Cambria"/>
              <a:cs typeface="Cambria"/>
            </a:endParaRPr>
          </a:p>
          <a:p>
            <a:pPr marL="398308" indent="-155859">
              <a:lnSpc>
                <a:spcPts val="811"/>
              </a:lnSpc>
              <a:buChar char="•"/>
              <a:tabLst>
                <a:tab pos="398308" algn="l"/>
              </a:tabLst>
            </a:pPr>
            <a:r>
              <a:rPr sz="682" dirty="0">
                <a:latin typeface="Cambria"/>
                <a:cs typeface="Cambria"/>
              </a:rPr>
              <a:t>This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test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contains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5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Concept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mapping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questions.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Total:</a:t>
            </a:r>
            <a:r>
              <a:rPr sz="682" spc="-17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100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spc="-7" dirty="0">
                <a:latin typeface="Cambria"/>
                <a:cs typeface="Cambria"/>
              </a:rPr>
              <a:t>Marks.</a:t>
            </a:r>
            <a:endParaRPr sz="682">
              <a:latin typeface="Cambria"/>
              <a:cs typeface="Cambria"/>
            </a:endParaRPr>
          </a:p>
          <a:p>
            <a:pPr marL="398308" marR="262363" indent="-155859">
              <a:lnSpc>
                <a:spcPct val="146500"/>
              </a:lnSpc>
              <a:buChar char="•"/>
              <a:tabLst>
                <a:tab pos="398308" algn="l"/>
              </a:tabLst>
            </a:pPr>
            <a:r>
              <a:rPr sz="682" dirty="0">
                <a:latin typeface="Cambria"/>
                <a:cs typeface="Cambria"/>
              </a:rPr>
              <a:t>When</a:t>
            </a:r>
            <a:r>
              <a:rPr sz="682" spc="-17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a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student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answer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using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a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concept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map,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in</a:t>
            </a:r>
            <a:r>
              <a:rPr sz="682" spc="-17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evaluation</a:t>
            </a:r>
            <a:r>
              <a:rPr sz="682" spc="-17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the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answer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should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be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with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following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spc="-14" dirty="0">
                <a:latin typeface="Cambria"/>
                <a:cs typeface="Cambria"/>
              </a:rPr>
              <a:t>four </a:t>
            </a:r>
            <a:r>
              <a:rPr sz="682" dirty="0">
                <a:latin typeface="Cambria"/>
                <a:cs typeface="Cambria"/>
              </a:rPr>
              <a:t>requirements:</a:t>
            </a:r>
            <a:r>
              <a:rPr sz="682" spc="-2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Understanding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of</a:t>
            </a:r>
            <a:r>
              <a:rPr sz="682" spc="-17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concepts,</a:t>
            </a:r>
            <a:r>
              <a:rPr sz="682" spc="-17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Connections</a:t>
            </a:r>
            <a:r>
              <a:rPr sz="682" spc="-2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between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ideas,</a:t>
            </a:r>
            <a:r>
              <a:rPr sz="682" spc="-17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Logical</a:t>
            </a:r>
            <a:r>
              <a:rPr sz="682" spc="-17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structure,</a:t>
            </a:r>
            <a:r>
              <a:rPr sz="682" spc="-17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Clarity</a:t>
            </a:r>
            <a:r>
              <a:rPr sz="682" spc="-17" dirty="0">
                <a:latin typeface="Cambria"/>
                <a:cs typeface="Cambria"/>
              </a:rPr>
              <a:t> of</a:t>
            </a:r>
            <a:r>
              <a:rPr sz="682" spc="-7" dirty="0">
                <a:latin typeface="Cambria"/>
                <a:cs typeface="Cambria"/>
              </a:rPr>
              <a:t> representation.</a:t>
            </a:r>
            <a:endParaRPr sz="682">
              <a:latin typeface="Cambria"/>
              <a:cs typeface="Cambria"/>
            </a:endParaRPr>
          </a:p>
          <a:p>
            <a:pPr marL="398308" indent="-155859">
              <a:spcBef>
                <a:spcPts val="378"/>
              </a:spcBef>
              <a:buChar char="•"/>
              <a:tabLst>
                <a:tab pos="398308" algn="l"/>
              </a:tabLst>
            </a:pPr>
            <a:r>
              <a:rPr sz="682" dirty="0">
                <a:latin typeface="Cambria"/>
                <a:cs typeface="Cambria"/>
              </a:rPr>
              <a:t>No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negative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marking.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Unanswered</a:t>
            </a:r>
            <a:r>
              <a:rPr sz="682" spc="-14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questions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carry</a:t>
            </a:r>
            <a:r>
              <a:rPr sz="682" spc="-20" dirty="0">
                <a:latin typeface="Cambria"/>
                <a:cs typeface="Cambria"/>
              </a:rPr>
              <a:t> </a:t>
            </a:r>
            <a:r>
              <a:rPr sz="682" dirty="0">
                <a:latin typeface="Cambria"/>
                <a:cs typeface="Cambria"/>
              </a:rPr>
              <a:t>zero</a:t>
            </a:r>
            <a:r>
              <a:rPr sz="682" spc="-10" dirty="0">
                <a:latin typeface="Cambria"/>
                <a:cs typeface="Cambria"/>
              </a:rPr>
              <a:t> </a:t>
            </a:r>
            <a:r>
              <a:rPr sz="682" spc="-7" dirty="0">
                <a:latin typeface="Cambria"/>
                <a:cs typeface="Cambria"/>
              </a:rPr>
              <a:t>marks.</a:t>
            </a:r>
            <a:endParaRPr sz="682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13909" y="4423237"/>
          <a:ext cx="4364181" cy="1276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6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Section</a:t>
                      </a:r>
                      <a:r>
                        <a:rPr sz="6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/</a:t>
                      </a:r>
                      <a:r>
                        <a:rPr sz="600" b="1" spc="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Topic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35069" marB="0">
                    <a:lnL w="6350">
                      <a:solidFill>
                        <a:srgbClr val="1F4E79"/>
                      </a:solidFill>
                      <a:prstDash val="solid"/>
                    </a:lnL>
                    <a:lnR w="6350">
                      <a:solidFill>
                        <a:srgbClr val="1F4E79"/>
                      </a:solidFill>
                      <a:prstDash val="solid"/>
                    </a:ln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6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Focus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35069" marB="0">
                    <a:lnL w="6350">
                      <a:solidFill>
                        <a:srgbClr val="1F4E79"/>
                      </a:solidFill>
                      <a:prstDash val="solid"/>
                    </a:lnL>
                    <a:lnR w="6350">
                      <a:solidFill>
                        <a:srgbClr val="1F4E79"/>
                      </a:solidFill>
                      <a:prstDash val="solid"/>
                    </a:ln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6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Q</a:t>
                      </a:r>
                      <a:r>
                        <a:rPr sz="600" b="1" spc="-1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Nos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35069" marB="0">
                    <a:lnL w="6350">
                      <a:solidFill>
                        <a:srgbClr val="1F4E79"/>
                      </a:solidFill>
                      <a:prstDash val="solid"/>
                    </a:lnL>
                    <a:lnR w="6350">
                      <a:solidFill>
                        <a:srgbClr val="1F4E79"/>
                      </a:solidFill>
                      <a:prstDash val="solid"/>
                    </a:ln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6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Marks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35069" marB="0">
                    <a:lnL w="6350">
                      <a:solidFill>
                        <a:srgbClr val="1F4E79"/>
                      </a:solidFill>
                      <a:prstDash val="solid"/>
                    </a:lnL>
                    <a:lnR w="6350">
                      <a:solidFill>
                        <a:srgbClr val="1F4E79"/>
                      </a:solidFill>
                      <a:prstDash val="solid"/>
                    </a:ln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32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Linked</a:t>
                      </a:r>
                      <a:r>
                        <a:rPr sz="600" b="1" spc="-35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sz="600" b="1" spc="-35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structure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6843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dirty="0">
                          <a:latin typeface="Cambria"/>
                          <a:cs typeface="Cambria"/>
                        </a:rPr>
                        <a:t>Basic</a:t>
                      </a:r>
                      <a:r>
                        <a:rPr sz="6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600" spc="-10" dirty="0">
                          <a:latin typeface="Cambria"/>
                          <a:cs typeface="Cambria"/>
                        </a:rPr>
                        <a:t> structure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987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600" spc="-50" dirty="0">
                          <a:latin typeface="Cambria"/>
                          <a:cs typeface="Cambria"/>
                        </a:rPr>
                        <a:t>1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6843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600" spc="-25" dirty="0">
                          <a:latin typeface="Cambria"/>
                          <a:cs typeface="Cambria"/>
                        </a:rPr>
                        <a:t>20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6843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76200" marR="159385">
                        <a:lnSpc>
                          <a:spcPts val="1060"/>
                        </a:lnSpc>
                        <a:spcBef>
                          <a:spcPts val="385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Primitive</a:t>
                      </a:r>
                      <a:r>
                        <a:rPr sz="600" b="1" spc="-3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600" b="1" spc="-3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Non-Primitive</a:t>
                      </a:r>
                      <a:r>
                        <a:rPr sz="600" b="1" spc="-3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sz="600" b="1" spc="-35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Structure</a:t>
                      </a:r>
                      <a:r>
                        <a:rPr sz="600" b="1" spc="-35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600" b="1" spc="50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Linear</a:t>
                      </a:r>
                      <a:r>
                        <a:rPr sz="600" b="1" spc="-35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600" b="1" spc="-3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Non-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Linear</a:t>
                      </a:r>
                      <a:r>
                        <a:rPr sz="600" b="1" spc="-3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sz="600" b="1" spc="-3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Structure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33338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600" dirty="0">
                          <a:latin typeface="Cambria"/>
                          <a:cs typeface="Cambria"/>
                        </a:rPr>
                        <a:t>Classifications</a:t>
                      </a:r>
                      <a:r>
                        <a:rPr sz="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dirty="0">
                          <a:latin typeface="Cambria"/>
                          <a:cs typeface="Cambria"/>
                        </a:rPr>
                        <a:t>Linear</a:t>
                      </a:r>
                      <a:r>
                        <a:rPr sz="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spc="-10" dirty="0">
                          <a:latin typeface="Cambria"/>
                          <a:cs typeface="Cambria"/>
                        </a:rPr>
                        <a:t>structure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77498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600" spc="-50" dirty="0">
                          <a:latin typeface="Cambria"/>
                          <a:cs typeface="Cambria"/>
                        </a:rPr>
                        <a:t>2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74468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600" spc="-25" dirty="0">
                          <a:latin typeface="Cambria"/>
                          <a:cs typeface="Cambria"/>
                        </a:rPr>
                        <a:t>20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74468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29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Search</a:t>
                      </a:r>
                      <a:r>
                        <a:rPr sz="600" b="1" spc="-35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sz="600" b="1" spc="-35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Structure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600" dirty="0">
                          <a:latin typeface="Cambria"/>
                          <a:cs typeface="Cambria"/>
                        </a:rPr>
                        <a:t>Linear</a:t>
                      </a:r>
                      <a:r>
                        <a:rPr sz="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dirty="0">
                          <a:latin typeface="Cambria"/>
                          <a:cs typeface="Cambria"/>
                        </a:rPr>
                        <a:t>Search</a:t>
                      </a:r>
                      <a:r>
                        <a:rPr sz="6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dirty="0">
                          <a:latin typeface="Cambria"/>
                          <a:cs typeface="Cambria"/>
                        </a:rPr>
                        <a:t>Binary</a:t>
                      </a:r>
                      <a:r>
                        <a:rPr sz="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spc="-10" dirty="0">
                          <a:latin typeface="Cambria"/>
                          <a:cs typeface="Cambria"/>
                        </a:rPr>
                        <a:t>Search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31173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spc="-50" dirty="0">
                          <a:latin typeface="Cambria"/>
                          <a:cs typeface="Cambria"/>
                        </a:rPr>
                        <a:t>3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spc="-25" dirty="0">
                          <a:latin typeface="Cambria"/>
                          <a:cs typeface="Cambria"/>
                        </a:rPr>
                        <a:t>20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29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Recursion,</a:t>
                      </a:r>
                      <a:r>
                        <a:rPr sz="600" b="1" spc="-5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Performance</a:t>
                      </a:r>
                      <a:r>
                        <a:rPr sz="600" b="1" spc="-4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analysis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600" spc="-10" dirty="0">
                          <a:latin typeface="Cambria"/>
                          <a:cs typeface="Cambria"/>
                        </a:rPr>
                        <a:t>Recursion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31173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spc="-50" dirty="0">
                          <a:latin typeface="Cambria"/>
                          <a:cs typeface="Cambria"/>
                        </a:rPr>
                        <a:t>4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spc="-25" dirty="0">
                          <a:latin typeface="Cambria"/>
                          <a:cs typeface="Cambria"/>
                        </a:rPr>
                        <a:t>20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629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Tree</a:t>
                      </a:r>
                      <a:r>
                        <a:rPr sz="600" b="1" spc="-2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sz="600" b="1" spc="-2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Cambria"/>
                          <a:cs typeface="Cambria"/>
                        </a:rPr>
                        <a:t>Structures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1F4E79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600" dirty="0">
                          <a:latin typeface="Cambria"/>
                          <a:cs typeface="Cambria"/>
                        </a:rPr>
                        <a:t>Classifications</a:t>
                      </a:r>
                      <a:r>
                        <a:rPr sz="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6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dirty="0">
                          <a:latin typeface="Cambria"/>
                          <a:cs typeface="Cambria"/>
                        </a:rPr>
                        <a:t>Tree</a:t>
                      </a:r>
                      <a:r>
                        <a:rPr sz="6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6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spc="-10" dirty="0">
                          <a:latin typeface="Cambria"/>
                          <a:cs typeface="Cambria"/>
                        </a:rPr>
                        <a:t>structure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31173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1F4E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spc="-50" dirty="0">
                          <a:latin typeface="Cambria"/>
                          <a:cs typeface="Cambria"/>
                        </a:rPr>
                        <a:t>5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1F4E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spc="-25" dirty="0">
                          <a:latin typeface="Cambria"/>
                          <a:cs typeface="Cambria"/>
                        </a:rPr>
                        <a:t>20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1F4E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872">
                <a:tc gridSpan="2">
                  <a:txBody>
                    <a:bodyPr/>
                    <a:lstStyle/>
                    <a:p>
                      <a:pPr marR="9334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7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GRAND</a:t>
                      </a:r>
                      <a:r>
                        <a:rPr sz="700" b="1" spc="-3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TOTAL: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32039" marB="0">
                    <a:lnT w="6350">
                      <a:solidFill>
                        <a:srgbClr val="1F4E79"/>
                      </a:solidFill>
                      <a:prstDash val="solid"/>
                    </a:lnT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7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100</a:t>
                      </a:r>
                      <a:r>
                        <a:rPr sz="7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Marks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T="31173" marB="0">
                    <a:lnR w="6350">
                      <a:solidFill>
                        <a:srgbClr val="1F4E79"/>
                      </a:solidFill>
                      <a:prstDash val="solid"/>
                    </a:lnR>
                    <a:lnT w="6350">
                      <a:solidFill>
                        <a:srgbClr val="1F4E79"/>
                      </a:solidFill>
                      <a:prstDash val="solid"/>
                    </a:lnT>
                    <a:lnB w="6350">
                      <a:solidFill>
                        <a:srgbClr val="1F4E7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704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1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649006"/>
            <a:ext cx="11457432" cy="15599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2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8513"/>
            <a:ext cx="11457432" cy="48409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3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72345"/>
            <a:ext cx="11457432" cy="913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4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85" y="365760"/>
            <a:ext cx="4919381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5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006" y="365760"/>
            <a:ext cx="8614940" cy="6126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</Words>
  <Application>Microsoft Office PowerPoint</Application>
  <PresentationFormat>Widescreen</PresentationFormat>
  <Paragraphs>63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Jeeva Raghul</cp:lastModifiedBy>
  <cp:revision>4</cp:revision>
  <dcterms:created xsi:type="dcterms:W3CDTF">2026-07-30T17:53:36Z</dcterms:created>
  <dcterms:modified xsi:type="dcterms:W3CDTF">2026-08-05T17:53:21Z</dcterms:modified>
</cp:coreProperties>
</file>